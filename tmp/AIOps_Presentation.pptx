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audience. Let the title breathe — pause before your first word. This slide sets the tone: something different is coming. This isn't a status update — it's a reframe.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 briefly. Tell them: 'We'll spend the first 10 minutes reframing what AIOps is, then get honest about where we are, then show you the blueprint and roadmap.' Set expectations for Q&amp;A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conceptual foundation of the talk. AIOps is a practice — observe, act, learn. Our org has the two platform pillars. The AI layer is the north star. Ground this before going into our current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 — 90 seconds. The humor moment about 'two experienced chefs in one kitchen' lands well here. The point is not dysfunction — it's opportunity.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honest moment. Be direct but not self-flagellating. The humor about 'job security' from their tickets lands well here. The bottom banner is the pivot — this is why we're here, and we own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dwell here. This slide is acknowledgment, not a shame spiral. State the causes clearly, own them briefly, then pivot. The quote at the bottom is the pivot line — say it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Ferrari/Porsche line is a planned humor moment. Pause after it — let it land. Then transition: the tools are mature, our practices are not. That's fixable. And here's how.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conceptual centerpiece of the talk. Walk around each node. Emphasize that the loop already exists — we're just doing it manually and inconsistently. The work ahead is to automate and instrument the loop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about 3–4 minutes on this slide. Each column represents a concrete deliverable. The humor about standards documents vs 4 AM reports lands well with engineers and managers alike. This is where you show the 'how.'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narrative scenario out loud — slowly. It should be almost cinematic. Let the room picture it. Then close with conviction: 'This is not a wish list. We have both platforms. This is an execution problem, and execution is what we do.'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horizon clearly. Emphasize that 'Now' work is already underway. 'Next' builds on 'Now.' 'Later' is the payoff. For execs: this is a three-horizon maturity model, not a wish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eye contact with each audience segment as you read their ask. The bottom statement gets a beat of silence — let it land. It projects confidence and self-awareness simultaneously.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this with energy. The closing humor — 'We intend to make some noise, the useful kind' — should feel earned at this point. The audience should leave with clarity on what you're doing, why, and what you need from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914400"/>
            <a:ext cx="3200400" cy="3200400"/>
          </a:xfrm>
          <a:prstGeom prst="ellipse">
            <a:avLst/>
          </a:prstGeom>
          <a:solidFill>
            <a:srgbClr val="1C7293">
              <a:alpha val="40000"/>
            </a:srgbClr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1280160"/>
            <a:ext cx="2834640" cy="2834640"/>
          </a:xfrm>
          <a:prstGeom prst="ellipse">
            <a:avLst/>
          </a:prstGeom>
          <a:solidFill>
            <a:srgbClr val="065A82">
              <a:alpha val="50000"/>
            </a:srgbClr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1645920"/>
            <a:ext cx="2468880" cy="2468880"/>
          </a:xfrm>
          <a:prstGeom prst="ellipse">
            <a:avLst/>
          </a:prstGeom>
          <a:solidFill>
            <a:srgbClr val="0A3A52">
              <a:alpha val="60000"/>
            </a:srgbClr>
          </a:solidFill>
          <a:ln w="25400">
            <a:solidFill>
              <a:srgbClr val="0A3A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1371600"/>
            <a:ext cx="1097280" cy="54864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217920" y="1828800"/>
            <a:ext cx="2286000" cy="54864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43600" y="2286000"/>
            <a:ext cx="1645920" cy="54864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2743200"/>
            <a:ext cx="1828800" cy="54864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943600" y="3200400"/>
            <a:ext cx="1280160" cy="54864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0972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 Over Noise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219456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AIOps Really Is, Where We Are,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Where We're Taking You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50292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57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|  AIOps Organization  |  [Date]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64008" cy="100584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097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Reframing AIOps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3444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Actually Means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24028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2240280"/>
            <a:ext cx="64008" cy="100584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688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331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Honest Assessment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23444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of the Union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347472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" y="3474720"/>
            <a:ext cx="64008" cy="100584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7033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3566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Blueprint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234440" y="3977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Standards, Architecture, North Star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846320" y="100584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46320" y="1005840"/>
            <a:ext cx="64008" cy="100584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23444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23560" y="1097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AIOps Flywheel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562356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Connects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846320" y="224028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846320" y="2240280"/>
            <a:ext cx="64008" cy="100584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46888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623560" y="2331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Roadmap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562356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Horizons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AIOps Is an Operating Model, Not a Team Name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6517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51560"/>
            <a:ext cx="265176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789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 EVERYTHING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Observability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metrics, traces, APM, synthetics — unified visibility across your entire stack.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6517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51560"/>
            <a:ext cx="265176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0789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 ON EVERYTHING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AAP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18745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Governed, auditable automation — from incident response to self-service workflows.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517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051560"/>
            <a:ext cx="2651760" cy="4114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0789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SMARTER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Future State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72200" y="18745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detection, root cause analysis, and self-healing patterns. The destination.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657600"/>
            <a:ext cx="8412480" cy="118872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657600"/>
            <a:ext cx="109728" cy="1188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033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"Observability feeds automation. Automation reduces noise. Less noise means better signals."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Got Here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05840" y="2377440"/>
            <a:ext cx="6858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0"/>
            <a:ext cx="822960" cy="82296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3017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 Team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3383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AAP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0" y="2011680"/>
            <a:ext cx="822960" cy="82296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468880" y="3017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 Team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3383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0" y="2011680"/>
            <a:ext cx="822960" cy="82296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3017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Oct 2025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3383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Re-org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32320" y="2011680"/>
            <a:ext cx="822960" cy="822960"/>
          </a:xfrm>
          <a:prstGeom prst="ellipse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58000" y="3017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3383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AIOps Org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840480"/>
            <a:ext cx="2651760" cy="256032"/>
          </a:xfrm>
          <a:prstGeom prst="rect">
            <a:avLst/>
          </a:prstGeom>
          <a:solidFill>
            <a:srgbClr val="1C7293">
              <a:alpha val="7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8404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Pre-existing teams, brought in via re-org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371600" y="914400"/>
            <a:ext cx="64008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463040" y="96012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"Two capable teams. Two powerful platforms. One mandate."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We Actually Are — Honest Edition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84048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60120"/>
            <a:ext cx="64008" cy="2697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Elastic Observability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3474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Capable platform, inconsistent implementation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alerts lacking runbooks &amp; owners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vary wildly by team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perception — alerted after the fact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960120"/>
            <a:ext cx="384048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0" y="960120"/>
            <a:ext cx="64008" cy="2697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051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Ansible AAP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0" y="1508760"/>
            <a:ext cx="3474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engine, missing guardrails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mandatory peer review process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reach production without full impact assessment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outcomes undermine confidence in automation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840480"/>
            <a:ext cx="841248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86791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expectation is consistency and agility. Unplanned disruptions erode that trust.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Happened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64008" cy="246888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1430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Shared Standards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23317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built conventions independently. Good intentions, divergent outcomes.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1005840"/>
            <a:ext cx="265176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91840" y="1005840"/>
            <a:ext cx="64008" cy="246888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143000"/>
            <a:ext cx="594360" cy="594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2900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Review Governance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429000" y="23317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 and dashboards shipped without cross-team review or quality gates.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1005840"/>
            <a:ext cx="265176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126480" y="1005840"/>
            <a:ext cx="64008" cy="246888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143000"/>
            <a:ext cx="594360" cy="5943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6364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Potential Unrealized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263640" y="23317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powerful tools operating independently — integration and shared architecture still ahead of us.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3657600"/>
            <a:ext cx="83210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57200" y="3657600"/>
            <a:ext cx="91440" cy="1188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5"/>
          <p:cNvSpPr/>
          <p:nvPr/>
        </p:nvSpPr>
        <p:spPr>
          <a:xfrm>
            <a:off x="731520" y="3703320"/>
            <a:ext cx="7955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"Fast growth + good people + no architecture discipline = a patchwork.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turning it into a platform."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Tools Are Excellent. Our Job Is to Use Them That Way.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931920" cy="274320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Elastic Logo ]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Elastic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· Metrics · Traces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 · Synthetics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Observability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3657600" cy="4572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63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✓  |  Implementation: In Progress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960120"/>
            <a:ext cx="3931920" cy="27432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Ansible Logo 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14173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Ansible AAP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54880" y="19202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Playbooks · RBAC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· Integrations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Automation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3063240"/>
            <a:ext cx="3657600" cy="4572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3063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✓  |  Standards: In Progress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84048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886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have a Ferrari and a Porsche. We're learning to drive them properly."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AIOps Flywheel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931920" y="1051560"/>
            <a:ext cx="1280160" cy="82296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931920" y="10515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 rot="2160000">
            <a:off x="4780821" y="1909484"/>
            <a:ext cx="886827" cy="54864"/>
          </a:xfrm>
          <a:prstGeom prst="rect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236389" y="1999312"/>
            <a:ext cx="1280160" cy="82296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236389" y="1999312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 rot="6480000">
            <a:off x="5183924" y="3150108"/>
            <a:ext cx="886827" cy="54864"/>
          </a:xfrm>
          <a:prstGeom prst="rect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738126" y="3532808"/>
            <a:ext cx="1280160" cy="82296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38126" y="3532808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rot="10800000">
            <a:off x="4128587" y="3916856"/>
            <a:ext cx="886827" cy="54864"/>
          </a:xfrm>
          <a:prstGeom prst="rect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125714" y="3532808"/>
            <a:ext cx="1280160" cy="82296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25714" y="3532808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 rot="-6480000">
            <a:off x="3073249" y="3150108"/>
            <a:ext cx="886827" cy="54864"/>
          </a:xfrm>
          <a:prstGeom prst="rect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627451" y="1999312"/>
            <a:ext cx="1280160" cy="82296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27451" y="1999312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 rot="-2160000">
            <a:off x="3476352" y="1909484"/>
            <a:ext cx="886827" cy="54864"/>
          </a:xfrm>
          <a:prstGeom prst="rect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977640" y="2240280"/>
            <a:ext cx="1188720" cy="1188720"/>
          </a:xfrm>
          <a:prstGeom prst="ellipse">
            <a:avLst/>
          </a:prstGeom>
          <a:solidFill>
            <a:srgbClr val="0A162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2240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AIOps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4663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spin this manually. We're building the engine.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Standards Framework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6517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14400"/>
            <a:ext cx="2651760" cy="594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326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2423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Instrumentation requirements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quality: runbook + severity + owner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standards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onboarding process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6517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0" y="914400"/>
            <a:ext cx="2651760" cy="594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9326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37560" y="1600200"/>
            <a:ext cx="2423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architecture patterns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peer review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playbook library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control integration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914400"/>
            <a:ext cx="26517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35040" y="914400"/>
            <a:ext cx="2651760" cy="5943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9326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AIOps INTEGRATION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72200" y="1600200"/>
            <a:ext cx="2423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Obs-to-automation triggers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feedback loop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event taxonomy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runbooks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794760"/>
            <a:ext cx="8412480" cy="100584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794760"/>
            <a:ext cx="109728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22192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"Standards aren't glamorous. But 4 AM post-incident reports aren't either."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We're Building Toward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37744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91440" cy="2377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60120"/>
            <a:ext cx="7863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developer deploys a service. It's instrumented on day one.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weeks later, Elastic detects an anomaly before a human notices — correlated, contextualized. Ansible fires a pre-approved runbook. Alert resolves.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gets paged at 2 AM.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2651760" cy="59436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35204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Faster Detection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3520440"/>
            <a:ext cx="2651760" cy="59436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35204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Response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3520440"/>
            <a:ext cx="2651760" cy="59436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35204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Engineers Sleep Through the Night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25196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4279392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science fiction. Achievable with the tools we already have.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65176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14400"/>
            <a:ext cx="2651760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326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Q1–Q2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920240" cy="320040"/>
          </a:xfrm>
          <a:prstGeom prst="rect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STABILIZE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240280"/>
            <a:ext cx="24231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standards v1.0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Elastic alerts &amp; dashboards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AAP review process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top 10 critical apps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engineer office hours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65176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14400"/>
            <a:ext cx="265176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9326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91840" y="12984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Q3–Q4 2026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66160" y="1828800"/>
            <a:ext cx="1920240" cy="320040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STANDARDIZE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2240280"/>
            <a:ext cx="24231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onboarding framework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Obs-to-automation integration patterns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component playbook library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 dashboard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maturity scorecard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914400"/>
            <a:ext cx="265176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914400"/>
            <a:ext cx="2651760" cy="7772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9326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26480" y="12984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2027+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0" y="1828800"/>
            <a:ext cx="1920240" cy="320040"/>
          </a:xfrm>
          <a:prstGeom prst="rect">
            <a:avLst/>
          </a:prstGeom>
          <a:solidFill>
            <a:srgbClr val="21295C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72200" y="2240280"/>
            <a:ext cx="24231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anomaly detection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root cause analysis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patterns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AIOps maturity model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Ask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60120"/>
            <a:ext cx="64008" cy="77724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24712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0332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Developers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43000" y="138074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instrument your services. Don't backlog the Elastic onboarding ask.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1847088"/>
            <a:ext cx="8412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1847088"/>
            <a:ext cx="64008" cy="77724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116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1920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 Managers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143000" y="22677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us 30 minutes to walk through your services in Elastic.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65760" y="2734056"/>
            <a:ext cx="8412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65760" y="2734056"/>
            <a:ext cx="64008" cy="77724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898648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28072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Leadership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143000" y="3154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the standards framework. Standards require organizational will.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65760" y="3621024"/>
            <a:ext cx="8412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365760" y="3621024"/>
            <a:ext cx="64008" cy="77724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785616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43000" y="36941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Senior Executives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143000" y="40416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us on incidents prevented and engineers not paged at 3 AM.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4" name="Text 18"/>
          <p:cNvSpPr/>
          <p:nvPr/>
        </p:nvSpPr>
        <p:spPr>
          <a:xfrm>
            <a:off x="457200" y="458114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a small team with a large mandate. We are aware of both facts.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731520"/>
            <a:ext cx="2560320" cy="2560320"/>
          </a:xfrm>
          <a:prstGeom prst="ellipse">
            <a:avLst/>
          </a:prstGeom>
          <a:solidFill>
            <a:srgbClr val="1C7293">
              <a:alpha val="35000"/>
            </a:srgbClr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1051560"/>
            <a:ext cx="2286000" cy="2286000"/>
          </a:xfrm>
          <a:prstGeom prst="ellipse">
            <a:avLst/>
          </a:prstGeom>
          <a:solidFill>
            <a:srgbClr val="065A82">
              <a:alpha val="43000"/>
            </a:srgbClr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371600"/>
            <a:ext cx="2011680" cy="2011680"/>
          </a:xfrm>
          <a:prstGeom prst="ellipse">
            <a:avLst/>
          </a:prstGeom>
          <a:solidFill>
            <a:srgbClr val="065A82">
              <a:alpha val="51000"/>
            </a:srgbClr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3152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the Signal Team Now.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69164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9202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Stabilize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86000" y="1920240"/>
            <a:ext cx="169164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0" y="19202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Standardize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14800" y="1920240"/>
            <a:ext cx="1691640" cy="594360"/>
          </a:xfrm>
          <a:prstGeom prst="rect">
            <a:avLst/>
          </a:prstGeom>
          <a:solidFill>
            <a:srgbClr val="21295C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0" y="19202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noise-to-signal ratio is suboptimal. We're fixing that.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5029200" cy="1097280"/>
          </a:xfrm>
          <a:prstGeom prst="rect">
            <a:avLst/>
          </a:prstGeom>
          <a:solidFill>
            <a:srgbClr val="1C7293">
              <a:alpha val="85000"/>
            </a:srgbClr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4747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48640" y="4663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|  AIOps Organization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 Over Noise — AIOps</dc:title>
  <dc:subject>PptxGenJS Presentation</dc:subject>
  <dc:creator>PptxGenJS</dc:creator>
  <cp:lastModifiedBy>PptxGenJS</cp:lastModifiedBy>
  <cp:revision>1</cp:revision>
  <dcterms:created xsi:type="dcterms:W3CDTF">2026-03-09T21:39:37Z</dcterms:created>
  <dcterms:modified xsi:type="dcterms:W3CDTF">2026-03-09T21:39:37Z</dcterms:modified>
</cp:coreProperties>
</file>